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645920"/>
            <a:ext cx="137160" cy="3291840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6D6"/>
                </a:solidFill>
              </a:defRPr>
            </a:pPr>
            <a:r>
              <a:t>SAMSUNG PRISM PROJECT • WORKLET ID: 26VI11 (CSED)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Adaptive Frame Compression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Intelligent Pre-Compression Decision Engine for Mobile Memory Optimization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Milestone 1 Final Demonstration (Steps 1–10 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Team of 3 Student Researchers • Department of Computer Science &amp; Engineering</a:t>
            </a:r>
          </a:p>
          <a:p>
            <a:pPr>
              <a:defRPr sz="1100">
                <a:solidFill>
                  <a:srgbClr val="0096D6"/>
                </a:solidFill>
              </a:defRPr>
            </a:pPr>
            <a:r>
              <a:t>GitHub Repository: https://github.com/oshish/samsung-prism-adaptive-compression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Problem Formulation &amp; Samsung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The Mobile Frame Buffer Bottleneck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High-Resolution Cameras (50-200MP): </a:t>
            </a:r>
            <a:r>
              <a:rPr b="0">
                <a:solidFill>
                  <a:srgbClr val="64748B"/>
                </a:solidFill>
              </a:rPr>
              <a:t>Produces enormous uncompressed 24-bit RGB frames.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120Hz Displays &amp; Gaming: </a:t>
            </a:r>
            <a:r>
              <a:rPr b="0">
                <a:solidFill>
                  <a:srgbClr val="64748B"/>
                </a:solidFill>
              </a:rPr>
              <a:t>Refreshes frames every 8.3ms, congesting LPDDR bus and draining battery.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Thermal Throttling: </a:t>
            </a:r>
            <a:r>
              <a:rPr b="0">
                <a:solidFill>
                  <a:srgbClr val="64748B"/>
                </a:solidFill>
              </a:rPr>
              <a:t>High memory bandwidth causes phone heating and clock throttling.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Why Simple Static Compression Fails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Always Lossless (PNG): </a:t>
            </a:r>
            <a:r>
              <a:rPr b="0">
                <a:solidFill>
                  <a:srgbClr val="64748B"/>
                </a:solidFill>
              </a:rPr>
              <a:t>Guarantees zero artifacts, but only saves 2x-3x memory. Wastes 75% of potential bandwidth reduction.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Always Lossy (JPEG): </a:t>
            </a:r>
            <a:r>
              <a:rPr b="0">
                <a:solidFill>
                  <a:srgbClr val="64748B"/>
                </a:solidFill>
              </a:rPr>
              <a:t>Saves 10x-15x memory, but ruins dark shadows (OLED shadow blocking), smooth skies (color banding), and sharp text.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Static Manual Rules ('If dark &gt; 30%'): </a:t>
            </a:r>
            <a:r>
              <a:rPr b="0">
                <a:solidFill>
                  <a:srgbClr val="64748B"/>
                </a:solidFill>
              </a:rPr>
              <a:t>Fails in practice! Achieved only 14.6% savings because human rules are overly conservative.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C2340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D6"/>
                </a:solidFill>
              </a:defRPr>
            </a:pPr>
            <a:r>
              <a:t>OUR OBJECTIVE: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Build an ultra-fast (&lt; 1ms) AI brain that inspects the uncompressed frame BEFORE compression and selects Lossy or Lossless mode to maximize memory reduction while ensuring ZERO visible artifacts.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Pre-Compression Decision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66543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066543" cy="41148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883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1. Input Frame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Raw 24-bit RGB frame buffer straight from Camera ISP or GPU frame buffer.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371600"/>
            <a:ext cx="2066543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1" y="1371600"/>
            <a:ext cx="2066543" cy="411480"/>
          </a:xfrm>
          <a:prstGeom prst="rect">
            <a:avLst/>
          </a:prstGeom>
          <a:solidFill>
            <a:srgbClr val="002D72"/>
          </a:solidFill>
          <a:ln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1" y="1874519"/>
            <a:ext cx="1883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2. Dual Representation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Convert to ITU-R BT.601 YUV. Decouple luminance (Y) from chrominance (U/V).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371600"/>
            <a:ext cx="2066543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371600"/>
            <a:ext cx="2066543" cy="411480"/>
          </a:xfrm>
          <a:prstGeom prst="rect">
            <a:avLst/>
          </a:prstGeom>
          <a:solidFill>
            <a:srgbClr val="002D72"/>
          </a:solidFill>
          <a:ln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1874519"/>
            <a:ext cx="1883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3. Pre-Compression Features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Extract 40 spatial, brightness, texture &amp; edge features in O(N) time (&lt; 1ms).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371600"/>
            <a:ext cx="2066543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0336" y="1371600"/>
            <a:ext cx="2066543" cy="411480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1874519"/>
            <a:ext cx="1883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4. Intelligent Classifier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Trained ML model evaluates features and predicts LOSSY vs LOSSLESS.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371600"/>
            <a:ext cx="2066543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36608" y="1371600"/>
            <a:ext cx="2066543" cy="4114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1874519"/>
            <a:ext cx="1883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5. Hardware Execution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Apply optimal codec: JPEG (Q=85) or PNG lossless based on model decision.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2340"/>
                </a:solidFill>
              </a:defRPr>
            </a:pPr>
            <a:r>
              <a:t>CRITICAL SCIENTIFIC PRINCIPLE: ZERO TARGET LEAKAGE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 real hardware, post-compression metrics (like compressed file size, compression ratio, PSNR, SSIM) DO NOT EXIST before compression happens! Therefore, model inputs X strictly contain pre-compression visual properties. Post-compression metrics are permanently blacklisted and audited via automated unit tests (tests/test_leakage.py).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DATASET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Dataset Curation &amp; Stratified Splits (Steps 1–3)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1,030 Diverse Standardized Frames</a:t>
            </a:r>
          </a:p>
          <a:p>
            <a:br/>
            <a:pPr>
              <a:defRPr sz="1200" b="1">
                <a:solidFill>
                  <a:srgbClr val="1E293B"/>
                </a:solidFill>
              </a:defRPr>
            </a:pPr>
            <a:r>
              <a:t>• Caltech-101 (1,000 images): </a:t>
            </a:r>
            <a:r>
              <a:rPr b="0">
                <a:solidFill>
                  <a:srgbClr val="64748B"/>
                </a:solidFill>
              </a:rPr>
              <a:t>Real photographic objects, animals, vehicles, complex natural textures, and varied lighting conditions.</a:t>
            </a:r>
          </a:p>
          <a:p>
            <a:br/>
            <a:pPr>
              <a:defRPr sz="1200" b="1">
                <a:solidFill>
                  <a:srgbClr val="1E293B"/>
                </a:solidFill>
              </a:defRPr>
            </a:pPr>
            <a:r>
              <a:t>• Kodak Benchmark (24 images): </a:t>
            </a:r>
            <a:r>
              <a:rPr b="0">
                <a:solidFill>
                  <a:srgbClr val="64748B"/>
                </a:solidFill>
              </a:rPr>
              <a:t>Canonical uncompressed 768x512 photographic benchmark universally cited in compression research.</a:t>
            </a:r>
          </a:p>
          <a:p>
            <a:br/>
            <a:pPr>
              <a:defRPr sz="1200" b="1">
                <a:solidFill>
                  <a:srgbClr val="1E293B"/>
                </a:solidFill>
              </a:defRPr>
            </a:pPr>
            <a:r>
              <a:t>• Synthetic Stress Suite (6 images): </a:t>
            </a:r>
            <a:r>
              <a:rPr b="0">
                <a:solidFill>
                  <a:srgbClr val="64748B"/>
                </a:solidFill>
              </a:rPr>
              <a:t>Specially designed failure cases: extreme low-light noise (Y &lt; 20), smooth sky gradients, high-contrast UI graphics, flat posters, and mixed HDR.</a:t>
            </a:r>
          </a:p>
          <a:p>
            <a:br/>
            <a:pPr>
              <a:defRPr sz="1200" b="1">
                <a:solidFill>
                  <a:srgbClr val="1E293B"/>
                </a:solidFill>
              </a:defRPr>
            </a:pPr>
            <a:r>
              <a:t>• Stratified 70/15/15 Split: </a:t>
            </a:r>
            <a:r>
              <a:rPr b="0">
                <a:solidFill>
                  <a:srgbClr val="64748B"/>
                </a:solidFill>
              </a:rPr>
              <a:t>Strictly partitioned into Train (721), Val (154), and Test (155) splits. Both classes (Lossy and Lossless) are proportionally balanced across all splits.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45920"/>
            <a:ext cx="4663440" cy="26231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5852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Figure: Balanced Strategy Distribution across Train, Val, and Test Splits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Pre-Compression Feature Extraction (Steps 4–6)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2340"/>
                </a:solidFill>
              </a:defRPr>
            </a:pPr>
            <a:r>
              <a:t>40 Pre-Compression Features (8 Domains)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Structural &amp; Dimensions (4): </a:t>
            </a:r>
            <a:r>
              <a:rPr b="0">
                <a:solidFill>
                  <a:srgbClr val="64748B"/>
                </a:solidFill>
              </a:rPr>
              <a:t>width, height, aspect ratio, total pixels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Brightness &amp; Luminance (10): </a:t>
            </a:r>
            <a:r>
              <a:rPr b="0">
                <a:solidFill>
                  <a:srgbClr val="64748B"/>
                </a:solidFill>
              </a:rPr>
              <a:t>mean, std, min, max, median, dark/bright ratios, IQR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Contrast &amp; Dynamic Range (2): </a:t>
            </a:r>
            <a:r>
              <a:rPr b="0">
                <a:solidFill>
                  <a:srgbClr val="64748B"/>
                </a:solidFill>
              </a:rPr>
              <a:t>RMS contrast, Michelson contrast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Entropy &amp; Information (2): </a:t>
            </a:r>
            <a:r>
              <a:rPr b="0">
                <a:solidFill>
                  <a:srgbClr val="64748B"/>
                </a:solidFill>
              </a:rPr>
              <a:t>RGB Shannon entropy, Luminance entropy H(Y)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Edges &amp; High Frequencies (5): </a:t>
            </a:r>
            <a:r>
              <a:rPr b="0">
                <a:solidFill>
                  <a:srgbClr val="64748B"/>
                </a:solidFill>
              </a:rPr>
              <a:t>Sobel density, mean/std magnitude, Laplacian variance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Spatial Texture / GLCM (2): </a:t>
            </a:r>
            <a:r>
              <a:rPr b="0">
                <a:solidFill>
                  <a:srgbClr val="64748B"/>
                </a:solidFill>
              </a:rPr>
              <a:t>GLCM Haralick contrast, GLCM homogeneity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Noise &amp; Shadow Risk (2): </a:t>
            </a:r>
            <a:r>
              <a:rPr b="0">
                <a:solidFill>
                  <a:srgbClr val="64748B"/>
                </a:solidFill>
              </a:rPr>
              <a:t>Immerkaer Laplacian noise, dark chroma variance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Color &amp; Chrominance (9): </a:t>
            </a:r>
            <a:r>
              <a:rPr b="0">
                <a:solidFill>
                  <a:srgbClr val="64748B"/>
                </a:solidFill>
              </a:rPr>
              <a:t>RGB channel moments, YUV moments, colorfulness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4846320" cy="28654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852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Figure: Key Feature Boxplots Separated by Ground-Truth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EMPIRICAL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Rate-Distortion &amp; Latency Benchmarks (Step 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46304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Codec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Compression Ratio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Memory Saved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Encode Latency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Decode Latency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PSNR (dB)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Feasibility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18.81x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1.45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1.77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Fails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JPEG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14.63x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1.43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1.87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Fast, high quality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JPEG (Target)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11.61x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1.42 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1.91 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42.08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0.9908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C2340"/>
                          </a:solidFill>
                        </a:defRPr>
                      </a:pPr>
                      <a:r>
                        <a:t>OPTIMAL SWEET SPOT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JPEG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7.77x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1.47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2.08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0.9969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Near-lossless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PNG (Lossless)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3.80x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12.27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4.55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Baseline Lossless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WebP Lossless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17.68x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94.3%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462.40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5.04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37x TOO SLOW!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2340"/>
                </a:solidFill>
              </a:defRPr>
            </a:pPr>
            <a:r>
              <a:t>KEY BENCHMARK DISCOVERIES: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JPEG Q=85 is the Ideal Operating Point: Achieves 11.61x compression ratio with 1.42ms encoding latency and 0.9908 SSIM.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The WebP Lossless Bottleneck: WebP Lossless achieves 17.68x, but its 462.4ms CPU encoding time is 37x slower than PNG and completely violates mobile 120Hz/60Hz display deadlines (8.3ms - 16.6ms).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JPEG Q=50 Degrades Quality: Aggressive quantization drops mean SSIM to 0.9238 and causes high-frequency edge ringing.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QUALITY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Quality &amp; Artifact Protection Metrics (Step 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2340"/>
                </a:solidFill>
              </a:defRPr>
            </a:pPr>
            <a:r>
              <a:t>PSNR (Peak Signal-to-Noise)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Global logarithmic pixel fidelity in decibels (dB). Threshold: &gt;= 33.0 dB. Identical frames return Inf (handled as 100 dB).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2340"/>
                </a:solidFill>
              </a:defRPr>
            </a:pPr>
            <a:r>
              <a:t>SSIM (Structural Similarity)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3-channel Gaussian structural correlation (11x11 window). Threshold: &gt;= 0.94 for imperceptible structural degradation on mobile.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2340"/>
                </a:solidFill>
              </a:defRPr>
            </a:pPr>
            <a:r>
              <a:t>Dark-SSIM (Shadow Artifacts)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Localized SSIM computed strictly over low-luminance pixels (Y &lt; 40). Catches severe DCT blockiness and banding in shadows on OLED screens.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52044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7033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2340"/>
                </a:solidFill>
              </a:defRPr>
            </a:pPr>
            <a:r>
              <a:t>Banding Risk Score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Detects staircase quantization plateaus across smooth sky/gradient regions. High scores warn against severe false contouring.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C2340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D6"/>
                </a:solidFill>
              </a:defRPr>
            </a:pPr>
            <a:r>
              <a:t>LPIPS (LEARNED PERCEPTUAL IMAGE PATCH SIMILARITY) FEASIBILITY STUDY: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Requires 50MB-100MB deep neural network weights (AlexNet/VGG) and 50-120ms GPU inference. Incompatible with hard real-time mobile display budgets (&lt; 2ms). Reserved strictly for offline validation in Milestone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GROUND-TRUTH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Ground-Truth Labeling &amp; Dataset Construction (Step 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2340"/>
                </a:solidFill>
              </a:defRPr>
            </a:pPr>
            <a:r>
              <a:t>Multi-Criterion Empirical Decision Rule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An image is labeled LOSSY if and only if ALL four conditions hold simultaneously; otherwise LOSSLESS:</a:t>
            </a:r>
            <a:br/>
          </a:p>
          <a:p>
            <a:pPr>
              <a:defRPr sz="1200" b="1">
                <a:solidFill>
                  <a:srgbClr val="0C2340"/>
                </a:solidFill>
              </a:defRPr>
            </a:pPr>
            <a:r>
              <a:t>• 1. SSIM &gt;= 0.94: </a:t>
            </a:r>
            <a:r>
              <a:rPr b="0">
                <a:solidFill>
                  <a:srgbClr val="1E293B"/>
                </a:solidFill>
              </a:rPr>
              <a:t>Guarantees structural fidelity.</a:t>
            </a:r>
          </a:p>
          <a:p>
            <a:pPr>
              <a:defRPr sz="1200" b="1">
                <a:solidFill>
                  <a:srgbClr val="0C2340"/>
                </a:solidFill>
              </a:defRPr>
            </a:pPr>
            <a:r>
              <a:t>• 2. PSNR &gt;= 33.0 dB: </a:t>
            </a:r>
            <a:r>
              <a:rPr b="0">
                <a:solidFill>
                  <a:srgbClr val="1E293B"/>
                </a:solidFill>
              </a:rPr>
              <a:t>Ensures high signal-to-noise ratio.</a:t>
            </a:r>
          </a:p>
          <a:p>
            <a:pPr>
              <a:defRPr sz="1200" b="1">
                <a:solidFill>
                  <a:srgbClr val="0C2340"/>
                </a:solidFill>
              </a:defRPr>
            </a:pPr>
            <a:r>
              <a:t>• 3. Dark-SSIM &gt;= 0.90: </a:t>
            </a:r>
            <a:r>
              <a:rPr b="0">
                <a:solidFill>
                  <a:srgbClr val="1E293B"/>
                </a:solidFill>
              </a:rPr>
              <a:t>Protects low-luminance details (Y &lt; 40).</a:t>
            </a:r>
          </a:p>
          <a:p>
            <a:pPr>
              <a:defRPr sz="1200" b="1">
                <a:solidFill>
                  <a:srgbClr val="0C2340"/>
                </a:solidFill>
              </a:defRPr>
            </a:pPr>
            <a:r>
              <a:t>• 4. Size Saving &gt;= 25%: </a:t>
            </a:r>
            <a:r>
              <a:rPr b="0">
                <a:solidFill>
                  <a:srgbClr val="1E293B"/>
                </a:solidFill>
              </a:rPr>
              <a:t>Lossy JPEG must save at least 25% memory over lossless PNG.</a:t>
            </a:r>
          </a:p>
          <a:p>
            <a:br/>
            <a:pPr>
              <a:defRPr sz="1000" b="1">
                <a:solidFill>
                  <a:srgbClr val="0096D6"/>
                </a:solidFill>
              </a:defRPr>
            </a:pPr>
            <a:r>
              <a:t>[ASSUMPTION — REQUIRES MENTOR CONFIRMATION]</a:t>
            </a:r>
            <a:br/>
            <a:r>
              <a:t>All thresholds are parameter-driven in configs/config.yaml and ready for calibration to Samsung internal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2340"/>
                </a:solidFill>
              </a:defRPr>
            </a:pPr>
            <a:r>
              <a:t>Empirical Class Distribution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• LOSSY: 1,018 frames (98.8%)</a:t>
            </a:r>
            <a:br/>
            <a:r>
              <a:t>• LOSSLESS: 12 frames (1.2%)</a:t>
            </a:r>
            <a:br/>
          </a:p>
          <a:p>
            <a:pPr>
              <a:defRPr sz="1300" b="1">
                <a:solidFill>
                  <a:srgbClr val="0C2340"/>
                </a:solidFill>
              </a:defRPr>
            </a:pPr>
            <a:r>
              <a:t>Why did the 12 frames strictly require LOSSLESS?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Vector Graphics &amp; Flat Posters (edge_04, edge_05): </a:t>
            </a:r>
            <a:r>
              <a:rPr b="0">
                <a:solidFill>
                  <a:srgbClr val="64748B"/>
                </a:solidFill>
              </a:rPr>
              <a:t>PNG compressed them 4x to 9x smaller than JPEG! Attempting lossy JPEG actually bloated file size (-400% to -900% savings).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Smooth Gradients (edge_01): </a:t>
            </a:r>
            <a:r>
              <a:rPr b="0">
                <a:solidFill>
                  <a:srgbClr val="64748B"/>
                </a:solidFill>
              </a:rPr>
              <a:t>JPEG DCT block boundaries caused severe false contouring and color banding.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Dark Noisy Frames (edge_02, edge_06, kodim16-20): </a:t>
            </a:r>
            <a:r>
              <a:rPr b="0">
                <a:solidFill>
                  <a:srgbClr val="64748B"/>
                </a:solidFill>
              </a:rPr>
              <a:t>Low-light noise ruined DCT quantization, dropping PSNR &lt; 29 dB and Dark-SSIM &lt; 0.88.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Baseline Machine Learning Classification (Step 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</a:defRPr>
            </a:pPr>
            <a:r>
              <a:t>Held-Out Test Split Performance (155 Frames)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01168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Logistic Reg.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Majority Class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98.7%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5720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2340"/>
                </a:solidFill>
              </a:defRPr>
            </a:pPr>
            <a:r>
              <a:t>Key Takeaways: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Decision Tree achieved 100% accuracy, matching the Oracle Upper Bound.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Rule-Based Heuristics failed (16.8% accuracy) because manual threshold cutoffs flag ordinary natural textures as risky.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Zero false positives: Decision Tree never mistakenly sent a delicate frame to lossy compression.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371600"/>
            <a:ext cx="44805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00200"/>
            <a:ext cx="4206240" cy="8490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0" y="585216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Figure: Confusion Matrices Across Evaluated Baseline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Feature Importance &amp; Interpretability (Step 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2340"/>
                </a:solidFill>
              </a:defRPr>
            </a:pPr>
            <a:r>
              <a:t>Top Physical Drivers of Compressibility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1. Dimensions &amp; Area (width, total_pixels, height): </a:t>
            </a:r>
            <a:r>
              <a:rPr b="0">
                <a:solidFill>
                  <a:srgbClr val="64748B"/>
                </a:solidFill>
              </a:rPr>
              <a:t>Small UI icons behave radically differently under 8x8 DCT blocks than full-frame camera scenes.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2. Dynamic Range &amp; Luminance Extremes: </a:t>
            </a:r>
            <a:r>
              <a:rPr b="0">
                <a:solidFill>
                  <a:srgbClr val="64748B"/>
                </a:solidFill>
              </a:rPr>
              <a:t>luminance_range, max_luminance, min_luminance directly govern clipping and shadow quantization risks.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3. Local Spatial Variance (local_variance_mean/std): </a:t>
            </a:r>
            <a:r>
              <a:rPr b="0">
                <a:solidFill>
                  <a:srgbClr val="64748B"/>
                </a:solidFill>
              </a:rPr>
              <a:t>Measures patch-level texture density; high activity hides DCT noise, whereas flat areas reveal artifacts.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4. Edge Sharpness (std_edge_magnitude): </a:t>
            </a:r>
            <a:r>
              <a:rPr b="0">
                <a:solidFill>
                  <a:srgbClr val="64748B"/>
                </a:solidFill>
              </a:rPr>
              <a:t>Sharp vector boundaries create ringing under lossy DCT.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5. Chroma Variation (std_b, mean_u): </a:t>
            </a:r>
            <a:r>
              <a:rPr b="0">
                <a:solidFill>
                  <a:srgbClr val="64748B"/>
                </a:solidFill>
              </a:rPr>
              <a:t>Strong color saturation requires careful quantization to avoid chroma bleeding.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ature_impor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45920"/>
            <a:ext cx="4846320" cy="27260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852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Figure: Gini Feature Importances from Random Forest Ensemble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SYSTEM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Real-World System Storage vs. Quality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760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340"/>
                </a:solidFill>
              </a:defRPr>
            </a:pPr>
            <a:r>
              <a:t>155 Test Frames (37.95 MB Uncompressed 24-bit Raw)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965960"/>
          <a:ext cx="5394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Size (MB)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Saved vs Lossless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Mean SSIM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PSNR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Failures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Always Lossless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16.87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100.0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14.41 MB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0.9982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90.2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Logistic Reg.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4.20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43.8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3.49 MB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79.3%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0.9914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42.7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Always Lossy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3.50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42.4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Decision Tree (Ours)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3.46 MB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79.47%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0.9915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43.1 dB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9834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2340"/>
                </a:solidFill>
              </a:defRPr>
            </a:pPr>
            <a:r>
              <a:t>Result: Our Decision Tree reduces storage from 16.87 MB to 3.46 MB, delivering 79.47% memory reduction while maintaining pristine 0.9915 SSIM and matching the theoretical Oracle Upper Bound!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325880"/>
            <a:ext cx="46634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orage_qualit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8521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Figure: Real-World Storage vs. Quality Trade-Off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D6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Hardware Feasibility &amp; Milestone 2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</a:defRPr>
            </a:pPr>
            <a:r>
              <a:t>Why Decision Tree Wins for Mobile Hardware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Depth &lt;= 4 (Only 4 If/Else Checks): </a:t>
            </a:r>
            <a:r>
              <a:rPr b="0">
                <a:solidFill>
                  <a:srgbClr val="64748B"/>
                </a:solidFill>
              </a:rPr>
              <a:t>No complex matrix math, no floating-point vector units required.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Ultra-Low Latency (&lt; 10 Microseconds): </a:t>
            </a:r>
            <a:r>
              <a:rPr b="0">
                <a:solidFill>
                  <a:srgbClr val="64748B"/>
                </a:solidFill>
              </a:rPr>
              <a:t>Executes 100x faster than the 1ms budget; easily runs inline in camera ISP or display controller firmware.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Zero Neural Network Overhead: </a:t>
            </a:r>
            <a:r>
              <a:rPr b="0">
                <a:solidFill>
                  <a:srgbClr val="64748B"/>
                </a:solidFill>
              </a:rPr>
              <a:t>Requires no NPU, GPU, or 50MB model weights. Code compiles down to 20 lines of pure C/C++.</a:t>
            </a:r>
          </a:p>
          <a:p>
            <a:br/>
            <a:pPr>
              <a:defRPr sz="1100" b="1">
                <a:solidFill>
                  <a:srgbClr val="1E293B"/>
                </a:solidFill>
              </a:defRPr>
            </a:pPr>
            <a:r>
              <a:t>• 100% Deterministic &amp; Verifiable: </a:t>
            </a:r>
            <a:r>
              <a:rPr b="0">
                <a:solidFill>
                  <a:srgbClr val="64748B"/>
                </a:solidFill>
              </a:rPr>
              <a:t>No black-box hallucination; decisions can be formally validated for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</a:defRPr>
            </a:pPr>
            <a:r>
              <a:t>Open Questions &amp; Milestone 2 Roadmap</a:t>
            </a:r>
          </a:p>
          <a:p>
            <a:br/>
            <a:pPr>
              <a:defRPr sz="1100" b="1">
                <a:solidFill>
                  <a:srgbClr val="0C2340"/>
                </a:solidFill>
              </a:defRPr>
            </a:pPr>
            <a:r>
              <a:t>• Mentor Alignment on Codec Standard: </a:t>
            </a:r>
            <a:r>
              <a:rPr b="0">
                <a:solidFill>
                  <a:srgbClr val="1E293B"/>
                </a:solidFill>
              </a:rPr>
              <a:t>Are we targeting Samsung ARM AFBC (Frame Buffer Compression), ASTC, or standard JPEG/WebP pipelines?</a:t>
            </a:r>
          </a:p>
          <a:p>
            <a:br/>
            <a:pPr>
              <a:defRPr sz="1100" b="1">
                <a:solidFill>
                  <a:srgbClr val="0C2340"/>
                </a:solidFill>
              </a:defRPr>
            </a:pPr>
            <a:r>
              <a:t>• Quality Threshold Cutoff: </a:t>
            </a:r>
            <a:r>
              <a:rPr b="0">
                <a:solidFill>
                  <a:srgbClr val="1E293B"/>
                </a:solidFill>
              </a:rPr>
              <a:t>Is SSIM &gt;= 0.94 / PSNR &gt;= 33 dB aligned with Samsung quality targets, or is a stricter threshold required?</a:t>
            </a:r>
          </a:p>
          <a:p>
            <a:br/>
            <a:pPr>
              <a:defRPr sz="1100" b="1">
                <a:solidFill>
                  <a:srgbClr val="0C2340"/>
                </a:solidFill>
              </a:defRPr>
            </a:pPr>
            <a:r>
              <a:t>• Multi-Level Adaptive Quality: </a:t>
            </a:r>
            <a:r>
              <a:rPr b="0">
                <a:solidFill>
                  <a:srgbClr val="1E293B"/>
                </a:solidFill>
              </a:rPr>
              <a:t>Expand Milestone 2 from binary Lossy/Lossless to continuous adaptive quality Q in [50, 95].</a:t>
            </a:r>
          </a:p>
          <a:p>
            <a:br/>
            <a:pPr>
              <a:defRPr sz="1100" b="1">
                <a:solidFill>
                  <a:srgbClr val="0C2340"/>
                </a:solidFill>
              </a:defRPr>
            </a:pPr>
            <a:r>
              <a:t>• On-Device Firmware Benchmark: </a:t>
            </a:r>
            <a:r>
              <a:rPr b="0">
                <a:solidFill>
                  <a:srgbClr val="1E293B"/>
                </a:solidFill>
              </a:rPr>
              <a:t>Port the 4-level decision tree to C/C++ and profile cycle latency on ARM/Android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